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34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-3108960"/>
            <a:ext cx="7498080" cy="7498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08960" y="329184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828800"/>
            <a:ext cx="2468880" cy="2468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JMONKEYENGINE 3 CODE WALKTHROUGH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640080" y="19659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Queen's Gambit</a:t>
            </a:r>
            <a:endParaRPr lang="en-US" sz="6600" dirty="0"/>
          </a:p>
        </p:txBody>
      </p:sp>
      <p:sp>
        <p:nvSpPr>
          <p:cNvPr id="7" name="Text 2"/>
          <p:cNvSpPr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3D chess game built from primitive shapes, a single warm key light, and about 600 lines of clean Java.</a:t>
            </a:r>
            <a:endParaRPr lang="en-US" sz="1700" dirty="0"/>
          </a:p>
        </p:txBody>
      </p:sp>
      <p:sp>
        <p:nvSpPr>
          <p:cNvPr id="8" name="Shape 3"/>
          <p:cNvSpPr/>
          <p:nvPr/>
        </p:nvSpPr>
        <p:spPr>
          <a:xfrm>
            <a:off x="640080" y="4526280"/>
            <a:ext cx="899770" cy="384048"/>
          </a:xfrm>
          <a:prstGeom prst="roundRect">
            <a:avLst>
              <a:gd name="adj" fmla="val 19048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640080" y="452628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17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1704442" y="4526280"/>
            <a:ext cx="1909267" cy="384048"/>
          </a:xfrm>
          <a:prstGeom prst="roundRect">
            <a:avLst>
              <a:gd name="adj" fmla="val 19048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704442" y="4526280"/>
            <a:ext cx="1909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jMonkeyEngine 3.6.1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778301" y="4526280"/>
            <a:ext cx="815645" cy="384048"/>
          </a:xfrm>
          <a:prstGeom prst="roundRect">
            <a:avLst>
              <a:gd name="adj" fmla="val 19048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778301" y="4526280"/>
            <a:ext cx="815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758538" y="4526280"/>
            <a:ext cx="1488643" cy="384048"/>
          </a:xfrm>
          <a:prstGeom prst="roundRect">
            <a:avLst>
              <a:gd name="adj" fmla="val 19048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758538" y="4526280"/>
            <a:ext cx="14886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source files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11773" y="4526280"/>
            <a:ext cx="2582266" cy="384048"/>
          </a:xfrm>
          <a:prstGeom prst="roundRect">
            <a:avLst>
              <a:gd name="adj" fmla="val 19048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411773" y="4526280"/>
            <a:ext cx="2582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Audience: intermediate devs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github.com/jhg539-ui/queens-gambit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WHAT YOU'RE LOOKING AT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readable 3D chess game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piece, square, and the board frame are generated procedurally from cylinders, spheres, and boxes — no external 3D model files. Click a piece to lift it, click a square to drop it. Basic movement rules are enforced by a small, fully unit-tested rules engine.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5029200" cy="274320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3483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40233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board, frame &amp; 32 pieces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picking via ray-casting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Per-piece legal-move validation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lift/drop interaction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080760" y="3246120"/>
            <a:ext cx="5029200" cy="274320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5204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0" y="3483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(the roadmap)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355080" y="40233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order &amp; game state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checkmate detection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Castling, en passant, promotion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Legal-target highlighting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0" y="1783080"/>
            <a:ext cx="914400" cy="914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BUILD &amp; RUN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how it boots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application plugin  </a:t>
            </a:r>
            <a:r>
              <a:rPr lang="en-US" sz="14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`mainClass = com.queensgambit.Main`, version 0.1.0.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  </a:t>
            </a:r>
            <a:r>
              <a:rPr lang="en-US" sz="14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uses switch expressions; source/target set to 17.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jMonkeyEngine 3.6.1  </a:t>
            </a:r>
            <a:r>
              <a:rPr lang="en-US" sz="14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core, desktop, lwjgl3, effects, plugins modules.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 </a:t>
            </a:r>
            <a:r>
              <a:rPr lang="en-US" sz="14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rules engine ships with real unit tests.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-XstartOnFirstThread  </a:t>
            </a:r>
            <a:r>
              <a:rPr lang="en-US" sz="14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JVM arg required for LWJGL3 on macOS.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49440" y="1783080"/>
            <a:ext cx="4663440" cy="187452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949440" y="1783080"/>
            <a:ext cx="54864" cy="187452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50608" y="1892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50608" y="219456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gradlew.bat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requires JDK 17+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49440" y="3886200"/>
            <a:ext cx="4663440" cy="160020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49440" y="3886200"/>
            <a:ext cx="54864" cy="160020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50608" y="3995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50608" y="4297680"/>
            <a:ext cx="4261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implementation </a:t>
            </a:r>
            <a:r>
              <a:rPr lang="en-US" sz="115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"...jme3-core"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implementation </a:t>
            </a:r>
            <a:r>
              <a:rPr lang="en-US" sz="115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"...jme3-lwjgl3"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testImplementation </a:t>
            </a:r>
            <a:r>
              <a:rPr lang="en-US" sz="115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"junit-jupiter"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356616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THE MAP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packages, one clear responsibility each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2606040" cy="23774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96112" y="2148840"/>
            <a:ext cx="640080" cy="64008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29514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8986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96112" y="3246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6112" y="35021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lighting, scene wiring. Extends SimpleApplication.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999232"/>
            <a:ext cx="128016" cy="12801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429000" y="1874520"/>
            <a:ext cx="2606040" cy="23774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3685032" y="2148840"/>
            <a:ext cx="640080" cy="64008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229514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85032" y="28986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3685032" y="3246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WORLD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685032" y="35021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builds squares &amp; tracks occupancy. BoardState interface.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999232"/>
            <a:ext cx="128016" cy="12801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217920" y="1874520"/>
            <a:ext cx="2606040" cy="23774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6473952" y="2148840"/>
            <a:ext cx="640080" cy="64008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295144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73952" y="28986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pieces</a:t>
            </a:r>
            <a:endParaRPr lang="en-US" sz="1700" dirty="0"/>
          </a:p>
        </p:txBody>
      </p:sp>
      <p:sp>
        <p:nvSpPr>
          <p:cNvPr id="23" name="Text 15"/>
          <p:cNvSpPr/>
          <p:nvPr/>
        </p:nvSpPr>
        <p:spPr>
          <a:xfrm>
            <a:off x="6473952" y="3246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ACTORS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6473952" y="35021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PieceFactory builds geometry. PieceType / PieceColor enums.</a:t>
            </a:r>
            <a:endParaRPr lang="en-US" sz="11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2999232"/>
            <a:ext cx="128016" cy="12801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006840" y="1874520"/>
            <a:ext cx="2606040" cy="23774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8"/>
          <p:cNvSpPr/>
          <p:nvPr/>
        </p:nvSpPr>
        <p:spPr>
          <a:xfrm>
            <a:off x="9262872" y="2148840"/>
            <a:ext cx="640080" cy="64008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9176" y="2295144"/>
            <a:ext cx="347472" cy="34747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262872" y="28986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</a:t>
            </a:r>
            <a:endParaRPr lang="en-US" sz="1700" dirty="0"/>
          </a:p>
        </p:txBody>
      </p:sp>
      <p:sp>
        <p:nvSpPr>
          <p:cNvPr id="30" name="Text 20"/>
          <p:cNvSpPr/>
          <p:nvPr/>
        </p:nvSpPr>
        <p:spPr>
          <a:xfrm>
            <a:off x="9262872" y="3246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RULES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9262872" y="35021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GameController handles input. MoveValidator enforces moves.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arrow points one way.  </a:t>
            </a:r>
            <a:r>
              <a:rPr lang="en-US" sz="14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wires everything; </a:t>
            </a:r>
            <a:r>
              <a:rPr lang="en-US" sz="14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depends on </a:t>
            </a:r>
            <a:r>
              <a:rPr lang="en-US" sz="14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an interface — not the other way around. Rendering never knows the rules; rules never touch the renderer.</a:t>
            </a:r>
            <a:endParaRPr lang="en-US" sz="1450" dirty="0"/>
          </a:p>
        </p:txBody>
      </p:sp>
      <p:sp>
        <p:nvSpPr>
          <p:cNvPr id="33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34" name="Text 24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JME3 FUNDAMENTALS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mental model: a scene graph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jMonkeyEngine renders a tree. You never draw pixels directly — you attach nodes and geometries to a root, and the engine walks the tree each frame.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anything in the tree (abstract base).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branch; holds children, has no shape.</a:t>
            </a:r>
            <a:endParaRPr lang="en-US" sz="13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leaf; a Mesh + a Material you can see.</a:t>
            </a:r>
            <a:endParaRPr lang="en-US" sz="13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rootNode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trunk SimpleApplication gives you.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412480" y="18288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E0A954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0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rootNode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281160" y="2286000"/>
            <a:ext cx="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281160" y="2286000"/>
            <a:ext cx="141732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49440" y="283464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4944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ChessBoard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875520" y="283464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5131C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7552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18120" y="3291840"/>
            <a:ext cx="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818120" y="3291840"/>
            <a:ext cx="86868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818120" y="3291840"/>
            <a:ext cx="224028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629400" y="3840480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1A1622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29400" y="3840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83880" y="384048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1A1622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18388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Squares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784080" y="384048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A1622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8408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Pieces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0561320" y="4297680"/>
            <a:ext cx="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561320" y="4297680"/>
            <a:ext cx="685800" cy="548640"/>
          </a:xfrm>
          <a:prstGeom prst="line">
            <a:avLst/>
          </a:prstGeom>
          <a:noFill/>
          <a:ln w="15875">
            <a:solidFill>
              <a:srgbClr val="5E5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5480" y="484632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555480" y="4846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0698480" y="484632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698480" y="4846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head…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55548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 leaves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MAIN.JAVA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Bootstrapping: simpleInitApp()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SimpleApplication gives lifecycle hooks. simpleInitApp() runs once on startup — it sets the scene, then hands off to the other objects. simpleUpdate(tpf) runs every frame (currently a stub for future animation).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flyCam, show the cursor (it's a point-and-click game)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Angled three-quarter camera, white side at the bottom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board → place pieces → light → wire controller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1645920"/>
            <a:ext cx="5486400" cy="402336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26480" y="1645920"/>
            <a:ext cx="54864" cy="402336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27648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com/queensgambit/Main.java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327648" y="2057400"/>
            <a:ext cx="508406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simpleInitApp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flyCam.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setEnabled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(false);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inputManager.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setCursorVisible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ChessBoard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=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ChessBoard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(assetManager);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rootNode.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attachChild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(board.getNode());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PieceFactory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PieceFactory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(assetManager);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setupStartingPosition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setupLighting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(this, board);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440" y="-256032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THE AESTHETIC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lights make the mood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"Queen's Gambit" feel comes from one deliberate lighting rig. Each light maps to an intention you can read straight out of the code.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3383280" cy="219456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566928" cy="566928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9169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× 0.12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4400" y="3840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Barely-there base light. Keeps shadows deep and the room nearly black.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2514600"/>
            <a:ext cx="3383280" cy="219456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17720" y="2788920"/>
            <a:ext cx="566928" cy="566928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9169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lamp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61772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(1.0, 0.82, 0.55) × 2.5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617720" y="3840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tungsten bulb 7 units above the board — the single key light.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46720" y="2514600"/>
            <a:ext cx="3383280" cy="219456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21040" y="2788920"/>
            <a:ext cx="566928" cy="566928"/>
          </a:xfrm>
          <a:prstGeom prst="ellipse">
            <a:avLst/>
          </a:prstGeom>
          <a:solidFill>
            <a:srgbClr val="6E86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91693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Directional fill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32104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(0.20, 0.28, 0.45)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321040" y="3840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cool side fill so the onyx pieces don't read as a black hole.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renderer's "art direction" is just numbers in init code — colours, multipliers, and positions chosen on purpose.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BOARD/CHESSBOARD.JAVA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(file, rank) to world space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uses integer (file, rank) coordinates, 0–7. The renderer needs 3D world coordinates. One static method bridges the two — and the magic number is 3.5.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5394960" cy="219456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54864" cy="219456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3081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bridge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1248" y="3383280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Vector3f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squareToWorld(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file,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(file -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3.5f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SQUARE_SIZE;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(rank -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3.5f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SQUARE_SIZE;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Vector3f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SQUARE_TOP_Y, z);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187452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50608" y="187452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626096" y="187452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01584" y="187452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577072" y="187452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052560" y="187452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28048" y="187452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003536" y="187452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675120" y="235000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150608" y="235000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626096" y="235000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01584" y="235000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577072" y="235000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052560" y="235000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528048" y="235000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03536" y="235000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675120" y="282549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50608" y="282549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626096" y="282549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101584" y="282549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577072" y="282549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9052560" y="282549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528048" y="282549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0003536" y="282549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675120" y="3300984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150608" y="3300984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626096" y="3300984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101584" y="3300984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577072" y="3300984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9052560" y="3300984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528048" y="3300984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003536" y="3300984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675120" y="3776472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150608" y="3776472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626096" y="3776472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101584" y="3776472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577072" y="3776472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9052560" y="3776472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528048" y="3776472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0003536" y="3776472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675120" y="425196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7150608" y="425196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7626096" y="425196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8101584" y="425196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8577072" y="425196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9052560" y="425196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9528048" y="4251960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003536" y="4251960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675120" y="472744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7150608" y="472744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7626096" y="472744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8101584" y="472744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8577072" y="472744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9052560" y="472744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9528048" y="4727448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0003536" y="4727448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6675120" y="520293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7150608" y="520293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7626096" y="520293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8101584" y="520293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8577072" y="520293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9052560" y="520293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9528048" y="5202936"/>
            <a:ext cx="475488" cy="475488"/>
          </a:xfrm>
          <a:prstGeom prst="rect">
            <a:avLst/>
          </a:prstGeom>
          <a:solidFill>
            <a:srgbClr val="3A2410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10003536" y="5202936"/>
            <a:ext cx="475488" cy="475488"/>
          </a:xfrm>
          <a:prstGeom prst="rect">
            <a:avLst/>
          </a:prstGeom>
          <a:solidFill>
            <a:srgbClr val="D2BC8C"/>
          </a:solidFill>
          <a:ln w="6350">
            <a:solidFill>
              <a:srgbClr val="0B0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6675120" y="5202936"/>
            <a:ext cx="475488" cy="475488"/>
          </a:xfrm>
          <a:prstGeom prst="rect">
            <a:avLst/>
          </a:prstGeom>
          <a:ln w="31750">
            <a:solidFill>
              <a:srgbClr val="E0A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629400" y="5696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(0,0)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8513064" y="3712464"/>
            <a:ext cx="146304" cy="146304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8714232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(0,0,0)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6675120" y="59984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3.5 centres the 8×8 grid on the world origin. The board lies on the XZ plane; Y is up.</a:t>
            </a:r>
            <a:endParaRPr lang="en-US" sz="1250" dirty="0"/>
          </a:p>
        </p:txBody>
      </p:sp>
      <p:sp>
        <p:nvSpPr>
          <p:cNvPr id="79" name="Text 7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BOARD/CHESSBOARD.JAVA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64 squares procedurally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 parity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(file + rank) % 2 picks cream vs walnut.</a:t>
            </a:r>
            <a:endParaRPr lang="en-US" sz="13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material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Common/MatDefs/Light/Lighting.j3md so squares respond to the lamp.</a:t>
            </a:r>
            <a:endParaRPr lang="en-US" sz="13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is tagged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userData stores file, rank, and isSquare = true.</a:t>
            </a:r>
            <a:endParaRPr lang="en-US" sz="13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setupStartingPosition  </a:t>
            </a:r>
            <a:r>
              <a:rPr lang="en-US" sz="13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back-rank array places all 32 pieces in 8 iterations.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12080" cy="301752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1783080"/>
            <a:ext cx="54864" cy="301752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01968" y="1892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buildSquares()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01968" y="2194560"/>
            <a:ext cx="4809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file = 0; file &lt; 8; file++)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rank = 0; rank &lt; 8; rank++)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isLight =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(file + rank) %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ColorRGBA 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isLight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</a:t>
            </a:r>
            <a:r>
              <a:rPr lang="en-US" sz="120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warm cream */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</a:t>
            </a:r>
            <a:r>
              <a:rPr lang="en-US" sz="120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deep walnut */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square.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setUserData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"isSquare"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TRUE);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4983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nested loop, one parity check — and the whole 8×8 board exists.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356616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STATE &amp; TAGGING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sources of truth, kept in sync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holds a plain Spatial[8][8] array as its logical state. The 3D scene graph is the visual state. Every move updates both — and each piece carries its own coordinates via userData.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setPieceAt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array AND stamps file/rank onto the Spatial.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userData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jME's untyped key→value store on any Spatial.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used: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pieceType, pieceColor, file, rank, isPiece, isSquare.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5212080" cy="356616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4864" cy="356616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01968" y="1801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tagging a piece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01968" y="2103120"/>
            <a:ext cx="48097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logical state lives here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pieces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new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setPieceAt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f, int r,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Spatial p)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pieces[f][r] = p;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setUserData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"file"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setUserData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"rank"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PIECES/PIECEFACTORY.JAVA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Pieces from primitive shapes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Factory: create(type, color) returns a fully built Spatial. Each piece is a Node holding several Geometry leaves — cylinders for the body, a sphere for a pawn's head, boxes for the rook's crenellations.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cyl() helper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jME cylinders 90° so they stand up on Y.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material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piece — ivory cream or onyx, high shininess.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knights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rotated 180° to face the board's centre.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Swap-ready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comment notes where real .glb models would load.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5212080" cy="370332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4864" cy="370332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01968" y="1801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factory method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01968" y="2103120"/>
            <a:ext cx="48097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 create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(PieceType type,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PieceColor color)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= </a:t>
            </a: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(type)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PAWN:   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buildPawn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ROOK:   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buildRook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QUEEN:  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buildQueen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setUserData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A9C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"isPiece"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TRUE);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GAME/GAMECONTROLLER.JAVA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handling: select, lift, drop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left-click action drives everything. The controller keeps just two fields — the selected piece and its resting position — and a small state machine decides what a click means.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3063240"/>
            <a:ext cx="310896" cy="310896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30266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hits something?   </a:t>
            </a:r>
            <a:r>
              <a:rPr lang="en-US" sz="12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 picks the closest geometry.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538728"/>
            <a:ext cx="310896" cy="310896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35021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up to a tagged ancestor   </a:t>
            </a:r>
            <a:r>
              <a:rPr lang="en-US" sz="12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findAncestor() finds isPiece / isSquare.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014216"/>
            <a:ext cx="310896" cy="310896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3977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+ nothing selected   </a:t>
            </a:r>
            <a:r>
              <a:rPr lang="en-US" sz="12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 — lift it 0.35 units.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489704"/>
            <a:ext cx="310896" cy="310896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44531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+ friendly selected   </a:t>
            </a:r>
            <a:r>
              <a:rPr lang="en-US" sz="12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re-select the new piece.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965192"/>
            <a:ext cx="310896" cy="310896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965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7280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or enemy + selected   </a:t>
            </a:r>
            <a:r>
              <a:rPr lang="en-US" sz="12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tryMove() — validate, then move.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691640"/>
            <a:ext cx="5349240" cy="370332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1691640"/>
            <a:ext cx="54864" cy="370332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64808" y="18013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tryMove()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64808" y="2103120"/>
            <a:ext cx="49469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tryMove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file,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int rank)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(selected == </a:t>
            </a: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!validator.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isLegalMove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board, selected, file, rank))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clearSquare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(fromF, fromR);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(captured != </a:t>
            </a: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captured.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removeFromParent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setPieceAt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(file, rank, selected);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440" y="-256032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THE PICKING ALGORITHM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a 2D click into a 3D hit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trick that makes a 3D scene clickable. The cursor is a 2D point; the scene is 3D. jME unprojects the click into a ray and tests it against the tree.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getWorldCoordinates(click, 0) → point on the near plane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getWorldCoordinates(click, 1) → point on the far plane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&amp; normalise → ray direction into the scene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rootNode.collideWith(ray) → sorted CollisionResults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getClosestCollision() → the geometry you actually clicked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66560" y="2468880"/>
            <a:ext cx="457200" cy="45720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75120" y="2944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38160" y="1920240"/>
            <a:ext cx="0" cy="1554480"/>
          </a:xfrm>
          <a:prstGeom prst="line">
            <a:avLst/>
          </a:prstGeom>
          <a:noFill/>
          <a:ln w="19050">
            <a:solidFill>
              <a:srgbClr val="5E58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6384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698480" y="1737360"/>
            <a:ext cx="0" cy="2103120"/>
          </a:xfrm>
          <a:prstGeom prst="line">
            <a:avLst/>
          </a:prstGeom>
          <a:noFill/>
          <a:ln w="19050">
            <a:solidFill>
              <a:srgbClr val="5E58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0" y="3886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223760" y="2670048"/>
            <a:ext cx="3931920" cy="502920"/>
          </a:xfrm>
          <a:prstGeom prst="line">
            <a:avLst/>
          </a:prstGeom>
          <a:noFill/>
          <a:ln w="31750">
            <a:solidFill>
              <a:srgbClr val="E0A9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281160" y="2724912"/>
            <a:ext cx="274320" cy="274320"/>
          </a:xfrm>
          <a:prstGeom prst="ellipse">
            <a:avLst/>
          </a:prstGeom>
          <a:solidFill>
            <a:srgbClr val="EFE6CC"/>
          </a:solidFill>
          <a:ln w="25400">
            <a:solidFill>
              <a:srgbClr val="E0A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closest hit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766560" y="4343400"/>
            <a:ext cx="4846320" cy="150876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66560" y="4343400"/>
            <a:ext cx="54864" cy="150876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67728" y="4453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pick()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967728" y="4754880"/>
            <a:ext cx="4443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 = </a:t>
            </a: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(near, dir);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rootNode.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collideWith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(ray, results);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getClosestCollision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115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getGeometry</a:t>
            </a:r>
            <a:r>
              <a:rPr lang="en-US" sz="115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GAME/MOVEVALIDATOR.JAVA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engine: pure logic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jME rendering here — just deltas. dx and dy are the file/rank differences. A switch expression dispatches on piece type; sliding pieces also check the path is clear.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(1,2) or (2,1) — never needs a clear path.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BISHOP/ROOK/QUEEN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+ isPathClear() walk.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|dx| ≤ 1 and |dy| ≤ 1.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  </a:t>
            </a: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by colour; double-step from home; diagonal only to capture.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1691640"/>
            <a:ext cx="5257800" cy="352044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54864" cy="352044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6248" y="18013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isLegalMove() — the dispatch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56248" y="2103120"/>
            <a:ext cx="48554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switch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KNIGHT -&gt; 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(absDx==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absDy==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||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(absDx==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absDy==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ROOK -&gt; (dx==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dy==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isPathClear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 -&gt; (dx==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||dy==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absDx==absDy) &amp;&amp; 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isPathClear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-&gt; absDx&lt;=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absDy&lt;=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356616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WHY IT'S TESTABLE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tiny interface unlocks unit tests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MoveValidator depends on BoardState — an interface with a single method. ChessBoard implements it for the real game; the tests provide a 12-line TestBoard. No graphics engine needed to test the rules.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5303520" cy="123444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54864" cy="123444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807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interface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1248" y="3108960"/>
            <a:ext cx="4901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BoardState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Spatial pieceAt</a:t>
            </a: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file, int rank);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697480"/>
            <a:ext cx="5486400" cy="2331720"/>
          </a:xfrm>
          <a:prstGeom prst="rect">
            <a:avLst/>
          </a:prstGeom>
          <a:solidFill>
            <a:srgbClr val="131019"/>
          </a:solidFill>
          <a:ln w="12700">
            <a:solidFill>
              <a:srgbClr val="3C261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26480" y="2697480"/>
            <a:ext cx="54864" cy="2331720"/>
          </a:xfrm>
          <a:prstGeom prst="rect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27648" y="28072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MoveValidatorTest.java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27648" y="3108960"/>
            <a:ext cx="50840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pawnCapturesOnlyDiagonally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TestBoard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</a:t>
            </a:r>
            <a:r>
              <a:rPr lang="en-US" sz="11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TestBoard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Spatial 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pawn = 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(PAWN, WHITE, 4, 4);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(KNIGHT, BLACK, 5, 5));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assertTrue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isLegalMove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pawn, 5, 5));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assertFalse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</a:t>
            </a:r>
            <a:r>
              <a:rPr lang="en-US" sz="1100" dirty="0">
                <a:solidFill>
                  <a:srgbClr val="7FA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isLegalMove</a:t>
            </a: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pawn, 3, 5));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2976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 </a:t>
            </a: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miniature — depend on an abstraction, not ChessBoard.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E0A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tests cover the tricky cases:  </a:t>
            </a: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 jumps, diagonal capture, blocked sliders, friendly-fire.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-2377440"/>
            <a:ext cx="59436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PATTERNS WORTH STEALING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ideas to take to your own code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520440" cy="19202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96112" y="2039112"/>
            <a:ext cx="603504" cy="603504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7627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743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96112" y="31546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PieceFactory hides messy construction behind one create() call.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16552" y="1783080"/>
            <a:ext cx="3520440" cy="19202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72584" y="2039112"/>
            <a:ext cx="603504" cy="603504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17627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72584" y="2743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segregation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72584" y="31546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BoardState exposes exactly one method — the minimum the rules need.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93024" y="1783080"/>
            <a:ext cx="3520440" cy="19202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49056" y="2039112"/>
            <a:ext cx="603504" cy="603504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217627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49056" y="2743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injection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449056" y="31546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AssetManager is passed in, never reached for globally.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959352"/>
            <a:ext cx="3520440" cy="19202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96112" y="4215384"/>
            <a:ext cx="603504" cy="603504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4352544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6112" y="491947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Lightweight tagging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96112" y="5330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userData acts like a tiny entity-component store on every Spatial.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16552" y="3959352"/>
            <a:ext cx="3520440" cy="1920240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672584" y="4215384"/>
            <a:ext cx="603504" cy="603504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4352544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72584" y="491947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672584" y="5330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input, and rules live in different packages and never blur.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193024" y="3959352"/>
            <a:ext cx="3520440" cy="1920240"/>
          </a:xfrm>
          <a:prstGeom prst="rect">
            <a:avLst/>
          </a:prstGeom>
          <a:solidFill>
            <a:srgbClr val="2A1A0D"/>
          </a:solidFill>
          <a:ln w="12700">
            <a:solidFill>
              <a:srgbClr val="E0A954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8467344" y="441655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“Small, honest abstractions beat clever ones.”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440" y="-256032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HONEST SCOPE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gaps &amp; the roadmap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is upfront: this enforces how pieces move, not the full game of chess. That's a feature for teaching — the missing pieces are clear, bite-sized exercises.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0607040" cy="603504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2724912"/>
            <a:ext cx="365760" cy="36576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6060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&amp; checkmate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26060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moves that leave your own king in check.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319272"/>
            <a:ext cx="10607040" cy="603504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" y="3438144"/>
            <a:ext cx="365760" cy="36576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33192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moves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63440" y="331927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Castling, en passant, and pawn promotion.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32504"/>
            <a:ext cx="10607040" cy="603504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4672" y="4151376"/>
            <a:ext cx="365760" cy="36576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4672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40325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highlighting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63440" y="403250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legal target squares on selection.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745736"/>
            <a:ext cx="10607040" cy="603504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04672" y="4864608"/>
            <a:ext cx="365760" cy="36576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4672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74573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order &amp; state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63440" y="474573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sides; track whose move it is.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458968"/>
            <a:ext cx="10607040" cy="603504"/>
          </a:xfrm>
          <a:prstGeom prst="rect">
            <a:avLst/>
          </a:prstGeom>
          <a:solidFill>
            <a:srgbClr val="15131C"/>
          </a:solidFill>
          <a:ln w="12700">
            <a:solidFill>
              <a:srgbClr val="2A1A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04672" y="5577840"/>
            <a:ext cx="365760" cy="365760"/>
          </a:xfrm>
          <a:prstGeom prst="ellipse">
            <a:avLst/>
          </a:prstGeom>
          <a:solidFill>
            <a:srgbClr val="E0A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04672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4589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3D models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663440" y="545896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primitives for .glb/.obj via loadModel.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5E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QUEEN'S GAMBIT  ·  jMonkeyEngine 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-2926080"/>
            <a:ext cx="7772400" cy="7772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432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554480"/>
            <a:ext cx="2194560" cy="21945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 START READING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640080" y="1965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four files,</a:t>
            </a:r>
            <a:endParaRPr lang="en-US" sz="4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600" dirty="0">
                <a:solidFill>
                  <a:srgbClr val="F7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order.</a:t>
            </a:r>
            <a:endParaRPr lang="en-US" sz="4600" dirty="0"/>
          </a:p>
        </p:txBody>
      </p:sp>
      <p:sp>
        <p:nvSpPr>
          <p:cNvPr id="7" name="Text 2"/>
          <p:cNvSpPr/>
          <p:nvPr/>
        </p:nvSpPr>
        <p:spPr>
          <a:xfrm>
            <a:off x="6400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r>
              <a:rPr lang="en-US" sz="140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   </a:t>
            </a: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see the scene assembled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40080" y="40325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r>
              <a:rPr lang="en-US" sz="140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ChessBoard.java   </a:t>
            </a: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coordinates &amp; the board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40080" y="4453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r>
              <a:rPr lang="en-US" sz="140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GameController.java   </a:t>
            </a: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 &amp; picking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40080" y="4873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r>
              <a:rPr lang="en-US" sz="1400" b="1" dirty="0">
                <a:solidFill>
                  <a:srgbClr val="F7F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MoveValidator.java   </a:t>
            </a: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rules, then its tests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github.com/jhg539-ui/queens-gambit  ·  Run with ./gradlew run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2437</Words>
  <Application>Microsoft Macintosh PowerPoint</Application>
  <PresentationFormat>Widescreen</PresentationFormat>
  <Paragraphs>340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Queen's Gambit — Code Walkthrough</dc:title>
  <dc:subject>PptxGenJS Presentation</dc:subject>
  <dc:creator>Code Walkthrough</dc:creator>
  <cp:lastModifiedBy>Elif Güneş</cp:lastModifiedBy>
  <cp:revision>2</cp:revision>
  <dcterms:created xsi:type="dcterms:W3CDTF">2026-06-01T10:33:12Z</dcterms:created>
  <dcterms:modified xsi:type="dcterms:W3CDTF">2026-06-01T14:48:14Z</dcterms:modified>
</cp:coreProperties>
</file>