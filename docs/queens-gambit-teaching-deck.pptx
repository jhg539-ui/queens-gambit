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764fe4236489c" /><Relationship Type="http://schemas.openxmlformats.org/officeDocument/2006/relationships/extended-properties" Target="/docProps/app.xml" Id="R01087e2c3e954fe3" /><Relationship Type="http://schemas.openxmlformats.org/officeDocument/2006/relationships/officeDocument" Target="/ppt/presentation.xml" Id="R95422813ef9c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1dd5b2ad14e2d"/>
  </p:sldMasterIdLst>
  <p:notesMasterIdLst>
    <p:notesMasterId xmlns:r="http://schemas.openxmlformats.org/officeDocument/2006/relationships" r:id="R5f57982bb8f84239"/>
  </p:notesMasterIdLst>
  <p:sldIdLst>
    <p:sldId xmlns:r="http://schemas.openxmlformats.org/officeDocument/2006/relationships" id="256" r:id="R8adbb1f0c7f94904"/>
    <p:sldId xmlns:r="http://schemas.openxmlformats.org/officeDocument/2006/relationships" id="257" r:id="Re872fa8c22ac4374"/>
    <p:sldId xmlns:r="http://schemas.openxmlformats.org/officeDocument/2006/relationships" id="258" r:id="Raf4cee96675a476d"/>
    <p:sldId xmlns:r="http://schemas.openxmlformats.org/officeDocument/2006/relationships" id="259" r:id="Rdf68adc719004e43"/>
    <p:sldId xmlns:r="http://schemas.openxmlformats.org/officeDocument/2006/relationships" id="260" r:id="Rdb4bb45cff434c71"/>
    <p:sldId xmlns:r="http://schemas.openxmlformats.org/officeDocument/2006/relationships" id="261" r:id="Rda5caa4afe6d48c1"/>
    <p:sldId xmlns:r="http://schemas.openxmlformats.org/officeDocument/2006/relationships" id="262" r:id="R6b02efa1f17b40ee"/>
    <p:sldId xmlns:r="http://schemas.openxmlformats.org/officeDocument/2006/relationships" id="263" r:id="R330a6f93a6f24387"/>
    <p:sldId xmlns:r="http://schemas.openxmlformats.org/officeDocument/2006/relationships" id="264" r:id="Rb777784898024b7a"/>
    <p:sldId xmlns:r="http://schemas.openxmlformats.org/officeDocument/2006/relationships" id="265" r:id="R8d2d6948166a4ca9"/>
    <p:sldId xmlns:r="http://schemas.openxmlformats.org/officeDocument/2006/relationships" id="266" r:id="Rfb29a856c94f411b"/>
    <p:sldId xmlns:r="http://schemas.openxmlformats.org/officeDocument/2006/relationships" id="267" r:id="R8b599a65c4c14382"/>
    <p:sldId xmlns:r="http://schemas.openxmlformats.org/officeDocument/2006/relationships" id="268" r:id="Rc84bac82a88445e4"/>
    <p:sldId xmlns:r="http://schemas.openxmlformats.org/officeDocument/2006/relationships" id="269" r:id="R5269fcf2926e46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1dd5b2ad14e2d" /><Relationship Type="http://schemas.openxmlformats.org/officeDocument/2006/relationships/theme" Target="/ppt/theme/theme1.xml" Id="R836f34226fff4f91" /><Relationship Type="http://schemas.openxmlformats.org/officeDocument/2006/relationships/notesMaster" Target="/ppt/notesMasters/notesMaster1.xml" Id="R5f57982bb8f84239" /><Relationship Type="http://schemas.openxmlformats.org/officeDocument/2006/relationships/presProps" Target="/ppt/presProps.xml" Id="R90d92f69a8404c69" /><Relationship Type="http://schemas.openxmlformats.org/officeDocument/2006/relationships/viewProps" Target="/ppt/viewProps.xml" Id="R327307ae657d4468" /><Relationship Type="http://schemas.openxmlformats.org/officeDocument/2006/relationships/tableStyles" Target="/ppt/tableStyles.xml" Id="R361e15a8b84044c8" /><Relationship Type="http://schemas.openxmlformats.org/officeDocument/2006/relationships/slide" Target="/ppt/slides/slide1.xml" Id="R8adbb1f0c7f94904" /><Relationship Type="http://schemas.openxmlformats.org/officeDocument/2006/relationships/slide" Target="/ppt/slides/slide2.xml" Id="Re872fa8c22ac4374" /><Relationship Type="http://schemas.openxmlformats.org/officeDocument/2006/relationships/slide" Target="/ppt/slides/slide3.xml" Id="Raf4cee96675a476d" /><Relationship Type="http://schemas.openxmlformats.org/officeDocument/2006/relationships/slide" Target="/ppt/slides/slide4.xml" Id="Rdf68adc719004e43" /><Relationship Type="http://schemas.openxmlformats.org/officeDocument/2006/relationships/slide" Target="/ppt/slides/slide5.xml" Id="Rdb4bb45cff434c71" /><Relationship Type="http://schemas.openxmlformats.org/officeDocument/2006/relationships/slide" Target="/ppt/slides/slide6.xml" Id="Rda5caa4afe6d48c1" /><Relationship Type="http://schemas.openxmlformats.org/officeDocument/2006/relationships/slide" Target="/ppt/slides/slide7.xml" Id="R6b02efa1f17b40ee" /><Relationship Type="http://schemas.openxmlformats.org/officeDocument/2006/relationships/slide" Target="/ppt/slides/slide8.xml" Id="R330a6f93a6f24387" /><Relationship Type="http://schemas.openxmlformats.org/officeDocument/2006/relationships/slide" Target="/ppt/slides/slide9.xml" Id="Rb777784898024b7a" /><Relationship Type="http://schemas.openxmlformats.org/officeDocument/2006/relationships/slide" Target="/ppt/slides/slide10.xml" Id="R8d2d6948166a4ca9" /><Relationship Type="http://schemas.openxmlformats.org/officeDocument/2006/relationships/slide" Target="/ppt/slides/slide11.xml" Id="Rfb29a856c94f411b" /><Relationship Type="http://schemas.openxmlformats.org/officeDocument/2006/relationships/slide" Target="/ppt/slides/slide12.xml" Id="R8b599a65c4c14382" /><Relationship Type="http://schemas.openxmlformats.org/officeDocument/2006/relationships/slide" Target="/ppt/slides/slide13.xml" Id="Rc84bac82a88445e4" /><Relationship Type="http://schemas.openxmlformats.org/officeDocument/2006/relationships/slide" Target="/ppt/slides/slide14.xml" Id="R5269fcf2926e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6cdbd96194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dc6ce1c21470c" /><Relationship Type="http://schemas.openxmlformats.org/officeDocument/2006/relationships/notesMaster" Target="/ppt/notesMasters/notesMaster1.xml" Id="R30111bb33d6c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d1b8ef28d4398" /><Relationship Type="http://schemas.openxmlformats.org/officeDocument/2006/relationships/notesMaster" Target="/ppt/notesMasters/notesMaster1.xml" Id="R4efc83dc22ef48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b57415396348e0" /><Relationship Type="http://schemas.openxmlformats.org/officeDocument/2006/relationships/notesMaster" Target="/ppt/notesMasters/notesMaster1.xml" Id="R9d0d1ff693c4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3a688f0f34315" /><Relationship Type="http://schemas.openxmlformats.org/officeDocument/2006/relationships/notesMaster" Target="/ppt/notesMasters/notesMaster1.xml" Id="R3a1f2e229d4c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5edce0dd074a8d" /><Relationship Type="http://schemas.openxmlformats.org/officeDocument/2006/relationships/notesMaster" Target="/ppt/notesMasters/notesMaster1.xml" Id="R7a852a861ea74b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4bbe0aaac94598" /><Relationship Type="http://schemas.openxmlformats.org/officeDocument/2006/relationships/notesMaster" Target="/ppt/notesMasters/notesMaster1.xml" Id="Rbd5a0db2431544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acdb1bc1a4417f" /><Relationship Type="http://schemas.openxmlformats.org/officeDocument/2006/relationships/notesMaster" Target="/ppt/notesMasters/notesMaster1.xml" Id="R6ef7595eda894d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5e771adc864f91" /><Relationship Type="http://schemas.openxmlformats.org/officeDocument/2006/relationships/notesMaster" Target="/ppt/notesMasters/notesMaster1.xml" Id="Rea4ac45baa9848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d36d7e0d284f29" /><Relationship Type="http://schemas.openxmlformats.org/officeDocument/2006/relationships/notesMaster" Target="/ppt/notesMasters/notesMaster1.xml" Id="Rbb9dba3a83c645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e78c206cab4f5f" /><Relationship Type="http://schemas.openxmlformats.org/officeDocument/2006/relationships/notesMaster" Target="/ppt/notesMasters/notesMaster1.xml" Id="Rb71f3e75378945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fb3a1b223b4d65" /><Relationship Type="http://schemas.openxmlformats.org/officeDocument/2006/relationships/notesMaster" Target="/ppt/notesMasters/notesMaster1.xml" Id="Rfbe95febf5ac4a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9b969b98a6429d" /><Relationship Type="http://schemas.openxmlformats.org/officeDocument/2006/relationships/notesMaster" Target="/ppt/notesMasters/notesMaster1.xml" Id="R912957c7ccc748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778cf951974a17" /><Relationship Type="http://schemas.openxmlformats.org/officeDocument/2006/relationships/notesMaster" Target="/ppt/notesMasters/notesMaster1.xml" Id="R041b0f3a68bf4c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20094cc25c474b" /><Relationship Type="http://schemas.openxmlformats.org/officeDocument/2006/relationships/notesMaster" Target="/ppt/notesMasters/notesMaster1.xml" Id="R8ee72dfb6350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bc6a2af6f4e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6efdc306c3455b" /><Relationship Type="http://schemas.openxmlformats.org/officeDocument/2006/relationships/slideLayout" Target="/ppt/slideLayouts/slideLayout2.xml" Id="Rf414a18ac1594b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4a18ac1594b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09d02e7044683" /><Relationship Type="http://schemas.openxmlformats.org/officeDocument/2006/relationships/notesSlide" Target="/ppt/notesSlides/notesSlide1.xml" Id="R261aa26eb3b1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99478f39743cd" /><Relationship Type="http://schemas.openxmlformats.org/officeDocument/2006/relationships/notesSlide" Target="/ppt/notesSlides/notesSlide2.xml" Id="R8b2778121221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1b96026934366" /><Relationship Type="http://schemas.openxmlformats.org/officeDocument/2006/relationships/notesSlide" Target="/ppt/notesSlides/notesSlide3.xml" Id="R1d52db4da77343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8386bc4934637" /><Relationship Type="http://schemas.openxmlformats.org/officeDocument/2006/relationships/notesSlide" Target="/ppt/notesSlides/notesSlide4.xml" Id="R36657559d71a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d3d37dda64cc5" /><Relationship Type="http://schemas.openxmlformats.org/officeDocument/2006/relationships/notesSlide" Target="/ppt/notesSlides/notesSlide5.xml" Id="R1df6d54f0fcc4e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3ef479a58e4acf" /><Relationship Type="http://schemas.openxmlformats.org/officeDocument/2006/relationships/notesSlide" Target="/ppt/notesSlides/notesSlide6.xml" Id="R631c2e0e6c1f44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9793736af4350" /><Relationship Type="http://schemas.openxmlformats.org/officeDocument/2006/relationships/notesSlide" Target="/ppt/notesSlides/notesSlide7.xml" Id="R57e4089ea0c545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4b2399e754e82" /><Relationship Type="http://schemas.openxmlformats.org/officeDocument/2006/relationships/notesSlide" Target="/ppt/notesSlides/notesSlide8.xml" Id="R2c852583f35846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b9e8b337449e3" /><Relationship Type="http://schemas.openxmlformats.org/officeDocument/2006/relationships/notesSlide" Target="/ppt/notesSlides/notesSlide9.xml" Id="Rcabecf9d660d42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84f28b8fe4864" /><Relationship Type="http://schemas.openxmlformats.org/officeDocument/2006/relationships/notesSlide" Target="/ppt/notesSlides/notesSlide10.xml" Id="Ra5cb3977b8444d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98380cc7f43f0" /><Relationship Type="http://schemas.openxmlformats.org/officeDocument/2006/relationships/notesSlide" Target="/ppt/notesSlides/notesSlide11.xml" Id="R455e489a5ef244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9a3a1484c45aa" /><Relationship Type="http://schemas.openxmlformats.org/officeDocument/2006/relationships/notesSlide" Target="/ppt/notesSlides/notesSlide12.xml" Id="Rf2f5db2cb6fb40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7fa6f46fa4879" /><Relationship Type="http://schemas.openxmlformats.org/officeDocument/2006/relationships/notesSlide" Target="/ppt/notesSlides/notesSlide13.xml" Id="R037a1f99c1224c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3f4549e4334b1b" /><Relationship Type="http://schemas.openxmlformats.org/officeDocument/2006/relationships/notesSlide" Target="/ppt/notesSlides/notesSlide14.xml" Id="Rd861f316fa0a47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52664-F569-4CE0-958B-7FD57D48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7AA83-E090-48A0-89DB-41868688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8389C-D706-42D3-B535-DAE8B8C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TEACHING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D2FA-C73B-4F61-ADE0-6DC67FC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How I Made the Queen's Gambit Chess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36CC-9A4E-446E-BD41-2A6E7DA2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 student-friendly walkthrough from blank Java project to playable 3D chessboard.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2A152-5713-4209-84B5-2D782BA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4512F-3BFF-4338-8476-F1ADC58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C8E6-9548-4499-A207-BA08B73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A 3D Java game built with jMonkeyEngine, Gradle, custom piece geometry, click-based selection, legal move validation, unit tests, and GitHub version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62A93-41F6-4843-8A59-FACDDEE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8F40-1681-4BD3-A333-B1AFC16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64E49-51BA-49E8-967A-22EEB028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Final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3B8D8-BD6F-4A3F-A237-73A22E9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 desktop chessboard where students can click pieces and move them according to chess movement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4D97F-CD9F-40A7-84B5-D95DA9B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8E8A4-9466-4050-93EC-A8087639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4C1F8-0B6E-4047-A5BA-7DB3801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Main teaching idea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1F276-DC8D-4024-9F01-A3040C36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Games are built by connecting small systems: rendering, state, input, rules, testing, and delivery.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0E58E-A08C-494E-A426-C458EBC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B9397-9A2D-47A5-83FC-0D34665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BD2F6-3048-45E6-9CC7-5C026ABD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Student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0ADB1-01BF-44F5-87E0-57C9DA4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81550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They should be able to explain each class and extend the game with new features.</a:t>
            </a:r>
          </a:p>
        </p:txBody>
      </p:sp>
    </p:spTree>
    <p:extLst>
      <p:ext uri="{BB962C8B-B14F-4D97-AF65-F5344CB8AC3E}">
        <p14:creationId xmlns:p14="http://schemas.microsoft.com/office/powerpoint/2010/main" val="14463071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CC5F4-42E9-4455-A814-01FA92F5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4489C-1147-42E7-BEE6-1D33DCF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EA4AD-1076-4249-B961-98129A3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LESSON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DA0BF-E782-4B4E-AC21-5E245B3D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What Students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3FE08-1E9B-451F-8523-7577913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deck is organized around the same questions you ask when building any small 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CBCFB-FEED-4BB1-8425-36B08877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9630E-5F95-431B-B819-3DF63C3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5808D-F9BC-40B4-BC81-44A2622B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095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790E7-E23C-49FA-BDC8-6DB2D4D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F55F-4928-469A-9223-198E69EC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733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Game-building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BF26C-0D9E-4639-A963-0A03D5A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7339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C3D17-1CC7-48E5-9002-52AEFA5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5095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67561-50CC-41A9-B3DC-2FB461B6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325FE-F2FC-4F94-A17B-221040E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62150"/>
            <a:ext cx="4733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Software engineering habits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2586F-BB07-4F3B-AA70-AB0EFB9A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47339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0A3CC-3EED-4729-BC39-AB32BAE6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CFA57-B659-47E8-BF98-67A691F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How a game window, camera, lights, and scene graph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7448B-F35B-411A-9A0E-274F6BEF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5C3CB-0E82-41BD-BBB4-FDC099F2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How the board is represented as both 3D objects and an 8x8 data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27C02-1D87-4FF6-AFED-AB042333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CD388-FECC-4884-AAFB-9333F29D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How mouse picking turns a screen click into a selected piece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65C05-2E32-4106-9938-E12ACDB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EDF29-18F5-4C2A-AF6E-A5A9C7C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How movement rules protect the board from invalid moves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6C186-A5BF-4F4D-A81E-6EAC6F04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9B735-5CA4-4A4F-B27E-1DE89CA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955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Separate responsibilities into focused classes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9584D-79E1-43B0-A718-4F30ED6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3D7D6-2D27-4090-9CFD-19C98840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Use metadata to connect rendered objects to game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C596A-882E-4B35-8703-8D27C8D7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876C3-74B4-426D-95C3-91E41BE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956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Write tests for logic that should not depend on graphics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169C5-2CDE-487F-99EF-79A2317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5D49A-97E2-403F-871C-30010B4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957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E7D1"/>
                </a:solidFill>
                <a:latin typeface="Aptos"/>
                <a:ea typeface="Aptos"/>
                <a:cs typeface="Aptos"/>
              </a:rPr>
              <a:t>Use Git and GitHub to save and share project history</a:t>
            </a:r>
          </a:p>
        </p:txBody>
      </p:sp>
    </p:spTree>
    <p:extLst>
      <p:ext uri="{BB962C8B-B14F-4D97-AF65-F5344CB8AC3E}">
        <p14:creationId xmlns:p14="http://schemas.microsoft.com/office/powerpoint/2010/main" val="19798847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FBF0B-1604-4A39-A893-7A2AF3D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DFDC8-5D16-41C8-BAB0-39E09BC3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E9B9F-87D2-4EF6-B00D-6B9A9F6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TOOLCHAIN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1061-2912-4464-9B78-C6B67A83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The Stack Is Small on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FF5D8-E68A-4EEA-A3BF-66BE051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project uses a desktop game engine and a conventional Java build so students can focus on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D843F-3141-4D7D-9707-E7FD2A69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AD04-AE2B-430E-A3FA-9409871A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1007E-4591-48ED-BF3E-6DDC7111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97DF9-0883-4003-8551-2C27741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5231D-B23B-4F1B-845C-E9E4DAF2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Java 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E987A-9BB2-4752-B730-5F13A2A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971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programming language used for classes, enums, tests, and application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50A36-89A0-4661-B4C8-752BFD1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F9515-59D8-4086-A6DD-70C786F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A660-6D84-414F-99EC-361CED06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jMonkeyEngine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851F5-FD08-42E1-A53F-3665D6A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71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3D engine that provides the scene graph, materials, camera, lighting, input, and rendering.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09F89-7743-4F23-AFAB-87E29548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76F51-E9A9-4A4F-84BE-6D0A500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2B5A1-CC01-4CA2-81D9-581A6FDC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Gradle Wrapper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1F291-27EC-4379-A447-1F1D2CE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9718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build tool that downloads dependencies and runs the app consistently on another machine.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95FE3-8074-444E-A53D-B16A07F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8991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B7871-51F6-4353-B12B-579EBA4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0"/>
            <a:ext cx="872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COMMANDS STUDENTS SHOULD KNOW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A3782-F9B1-48D6-862A-F1F18379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868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./gradlew run          # open the game window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./gradlew clean build  # compile and run tests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add .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commit -m "Describe the change"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2000697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10AED6-AB49-4C3F-8EB0-D3DE6DC3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1E1EF-1728-4672-86AD-F212E002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31CAA-7A8D-49D3-A538-F310571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PROJECT LAYOUT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AFB48-DDFE-4454-831C-CF64278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Each Package Owns One Part of the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0EC17-F38E-4EB6-9949-A6128C9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code is easier to explain because rendering, board state, pieces, rules, and input are separated.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DC30-D2A2-4C96-A81F-919D861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CFC0F-3C77-46B9-A2B2-532F308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7EC7-5815-4979-B752-2EA906FD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D08EB-F3E2-4273-A4B8-EF85DAB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68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PROJECT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BAB23-B7A1-4877-A281-1A92C15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648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src/main/java/com/queensgambit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├── Main.java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├── board/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│   ├── BoardState.java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│   └── ChessBoard.java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├── game/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│   ├── GameController.java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│   └── MoveValidator.java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└── pieces/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├── PieceColor.java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├── PieceFactory.java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└── PieceType.java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src/test/java/com/queensgambit/game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└── MoveValidatorTest.java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B6F07-89AA-40DA-A648-89FEBA38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EDFA0-7C99-4B4A-94C1-60A29366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386F0-0BF4-4913-A78A-3FA452E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41312-72D9-41B8-8D81-ECDC3B1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Starts the engine and connects all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3FA4D-9B78-4A10-B528-304D186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91F3A-5722-40FC-9756-95ACB2D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3F690-FF48-44EA-BA6C-4CE9B45B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8FE70-377F-4E82-9F2E-70BAF8E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Builds squares and stores piece occupancy.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49583-5A31-41F9-AF61-9377F439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1CD3B-C99C-452A-95BA-5F682B0C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6C6F7-1B90-4D0B-BA7A-3F31870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pieces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16568-CBC1-4DEB-99AF-E7E2C91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Creates primitive 3D models and stores metadata.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AD845-950E-42FB-8CAC-8136050E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61E83-485E-4133-9605-CFAB109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A623B-3281-4048-9E39-0FEB3B38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C6113-EC1C-4850-A47D-8B98BE20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440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Handles clicks and validates moves.</a:t>
            </a:r>
          </a:p>
        </p:txBody>
      </p:sp>
    </p:spTree>
    <p:extLst>
      <p:ext uri="{BB962C8B-B14F-4D97-AF65-F5344CB8AC3E}">
        <p14:creationId xmlns:p14="http://schemas.microsoft.com/office/powerpoint/2010/main" val="15268124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A1203-FA76-48E4-88DD-3C1B68E5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12211-DC6B-4950-88E2-3265FF4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37A1F-E7B7-4C50-B836-B8B93246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F8DD1-5ECF-480D-90E8-85CCDC1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Main.java Builds the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43AF5-0A91-42D8-BEA3-F01EE854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jMonkeyEngine calls simpleInitApp once, then keeps rendering frames.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3AB70-3BD3-4F61-9C7B-69BD5A2A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55B46-1D55-4260-8027-BD6D088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970E7-87F1-4EC0-9271-EC2B3DB8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A91D-6E2B-4F39-9242-EE9D308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9419F-50FE-4F76-943D-07AA073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AppSettings title, size, anti-aliasing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046A7-0EFF-4B81-B5A7-9E37C70A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AFD0C-2709-460B-AB3A-C7E3E2FE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94310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BD1A9-B142-48BE-B1FB-787C525A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10" y="209550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B50F1-0AE8-4F20-8776-4929C98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860" y="240030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Placed above the board and angled 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24925-CA92-4C9C-B1CE-061FACAF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43366-56D8-4FE6-A269-F090175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94310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02716-AC5D-44F1-B3CF-1D0B99B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09550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54E19-2016-454A-8938-DB1EAB3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240030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ChessBoard node is attached to rootNode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AD961-2691-48B0-B2E9-F6EEEF9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7A7D4-D213-4CAC-9F40-AFBFACF8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4310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E9022-6B38-4B44-B894-BCCCC9DE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09550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Pieces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74BD0-7CA5-4B21-A013-C51E752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0030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PieceFactory creates starting 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AF7D7-3419-4AC5-BC67-0709E0C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22479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B5DBA-BBF9-446F-891E-16ECC106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194310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F5259-E69A-4E49-B51D-AA5050ED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09550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5E4441-A989-4C6F-B154-1A0B214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240030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GameController registers mouse clicks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6444F-3975-4543-80DB-CAE05C08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9410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FD3ED-B090-4BF6-81B6-3C839588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THE KEY CONNECTIONS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08474-1E36-45F1-AE48-C431855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19600"/>
            <a:ext cx="910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ChessBoard board = new ChessBoard(assetManager);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rootNode.attachChild(board.getNode());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PieceFactory factory = new PieceFactory(assetManager);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board.setupStartingPosition(factory);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new GameController(this, board);</a:t>
            </a:r>
          </a:p>
        </p:txBody>
      </p:sp>
    </p:spTree>
    <p:extLst>
      <p:ext uri="{BB962C8B-B14F-4D97-AF65-F5344CB8AC3E}">
        <p14:creationId xmlns:p14="http://schemas.microsoft.com/office/powerpoint/2010/main" val="8492336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6F031-CC61-47A7-AB31-76BE75ED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52702-9DB6-45AC-A481-0591BA9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0C114-2457-4E65-80E3-97B59AD8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BOARD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19D9B-F824-435D-A521-3A42E6B1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ChessBoard Has Two Jobs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CA947-BFC9-4849-B0DD-46E0D99B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 good game object usually has a visual job and a data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00E5D-DA2E-479A-8279-6CD139D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1E103-D57D-4A55-B3BE-E99753CE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91D34-BFB2-4B1F-9C0A-444DE7D0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149EB-B9FD-4B4C-878F-018BC6D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83937-E9A5-4325-98A2-0E8BF400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1. Draw the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F7FC4-7E60-4BCC-8192-1ED8604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4400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buildFrame() creates the wooden frame. buildSquares() loops through all 64 squares, creates Box geometry, colors it, and attaches it to the board node.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8F35F-0E9E-45B7-8C25-024B2CD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9FB5C-39D2-4CBE-8EAC-AFA5005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D6342-6281-4F5B-9EAF-8CC575F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2. Track the pieces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A9E2D-C989-4713-9F1A-3658AF9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400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pieces[file][rank] stores which Spatial is on each square. This array is the board state used by movement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A0407-343D-4DE0-8E26-575480C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914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C4E93-C856-4CB6-9CC6-801C5744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62400"/>
            <a:ext cx="887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VISUAL CHESSBOARD + DATA CHESSBOARD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C914C-54E7-4E01-9573-1BFB49B8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883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private final Spatial[][] pieces = new Spatial[8][8];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public Spatial pieceAt(int file, int rank)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return pieces[file][rank];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60929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50B5C-EA42-467F-9E6D-CECAE3E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CDFA-3D2F-497D-88D1-40551826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C3F45-826A-4610-BD97-CE389EE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A3E0D-A065-47AC-AD54-2F58D61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Board Squares Become 3D Positions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CD08-EBE5-4DF8-B3E2-438C8B35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game keeps chess coordinates simple: files and ranks are numbers from 0 to 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5F763-23FE-466A-8B24-9D4EC4C5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D3868-2B4B-49D3-B660-9E27BAE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8DAE3-2D01-4EEF-A0D7-CE31EF8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36257-FC84-46FB-9BD0-4FD97B2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0D931-6D3B-488C-B6E4-CB509DC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5F853-0433-4D74-9E20-E7D7EC63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76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Column on the board. file 0 is the left edge from White's side.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D4239-A957-40CD-980C-42E520F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3A073-F1A0-46F8-8B65-007D79B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85EBB-E660-4D7F-8D52-793756D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4D54F-BFF6-4F7E-B5BB-4E05A3C5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76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Row on the board. rank 0 is White's back rank.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74774-22EA-46CE-B9CA-0572834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72B7E-C0B0-494D-9369-03E22434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FE7AD-B89B-4D9B-AFBC-A27BA34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world 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199D7-1F8F-4C95-A077-85ACA2F4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76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 Vector3f position used by the 3D engine.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95080-A125-4DAB-9E15-59F987D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8991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793F2-38E6-4D02-B8C7-383390AE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872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CENTERING AN 8x8 BOARD AROUND THE ORIGIN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B896A-03C7-4765-A2A6-9439781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24300"/>
            <a:ext cx="868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public static Vector3f squareToWorld(int file, int rank)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float x = (file - 3.5f) * SQUARE_SIZE;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float z = (rank - 3.5f) * SQUARE_SIZE;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return new Vector3f(x, SQUARE_TOP_Y, z);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93058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CBAF9-743C-4909-BE9B-DF9CCCC3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99116-56E1-45B9-89F4-12D29EA4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69A9-B62B-42F2-9327-7D3EC7E6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PIECES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A8BAD-62AA-47BF-9109-F8BF1444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PieceFactory Builds Chess Pieces from Primitives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FE215-E206-4F94-8FE2-735F452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Instead of importing models, the game constructs recognizable placeholders from cylinders, spheres, and boxes.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F2CD5-6F33-44A8-893B-3BEEAEC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48BF7-B1BE-488C-A559-A4B30F02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DE6E5-BB2B-4415-BC79-CDE6BEB8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50983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58CE-FDF4-42F9-B577-D28C6C0E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2431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create()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388E3-744D-4F63-951D-797C3039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2050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Receives type and color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51451-1A79-4BB7-BD0F-24EBE4A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1717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59C40-8EBF-4A92-A6E0-9184D2E2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866900"/>
            <a:ext cx="250983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7D1FF-B3AB-45E0-B17B-3B7BAD65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19300"/>
            <a:ext cx="22431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47C7-B7CF-41F3-8BEB-8944B1AE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324100"/>
            <a:ext cx="22050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Ivory or dark piece color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395C3-1485-4B19-8547-965123F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1717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3B849-CFB7-458A-A6B8-0B08B279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66900"/>
            <a:ext cx="250983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DAD01-6372-47C3-B20B-3B3DA71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19300"/>
            <a:ext cx="22431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FF8D4-B2DB-49FA-9040-61911C8B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24100"/>
            <a:ext cx="22050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buildPawn, buildRook, etc.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EC914-A5B3-4E94-B3FE-A4FEDDB4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21717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BE34D-1EA2-4B47-AC6D-73329FB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866900"/>
            <a:ext cx="250983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45431-BC7B-48E1-B402-F4ACE97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2019300"/>
            <a:ext cx="22431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87D6D-3E22-43B4-B39F-2F82AE73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24100"/>
            <a:ext cx="22050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pieceType, pieceColor, isPiece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02ACC-9169-42FC-B8F7-2434A35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09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85EA2-BBF6-43A8-94AA-861BECA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582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WHY METADATA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332BA-ACE7-4B94-90E4-5215C72C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5791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node.setUserData("pieceType", type.name());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node.setUserData("pieceColor", color.name());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node.setUserData("isPiece", Boolean.TRUE);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2680F-0960-4159-80F8-2A667132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62F8B-7B71-4EF3-B576-DA88300B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00CD6-C59B-4BFA-AB22-B2D84EA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243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Teaching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4C2FD-27EC-4ED9-BC8B-CD40EEB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engine may click a tiny geometry like a pawn head. Metadata on the parent node lets the game recover the full piece.</a:t>
            </a:r>
          </a:p>
        </p:txBody>
      </p:sp>
    </p:spTree>
    <p:extLst>
      <p:ext uri="{BB962C8B-B14F-4D97-AF65-F5344CB8AC3E}">
        <p14:creationId xmlns:p14="http://schemas.microsoft.com/office/powerpoint/2010/main" val="11296797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59E11-BAE5-4092-8EFC-09CE0A9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BDAB8-F872-4A90-9F4F-72114A11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0D5FF-7B92-4B3A-9363-4BE6CD7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C0C01-01D2-498A-8E89-71FDBC2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A Mouse Click Becomes a Board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6E33F-91AF-4F66-B65A-465CBA8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GameController translates user intention into selecting, moving, reselecting, or capturing.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0EDA9-86CE-47E1-B1E2-6975478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1B609-2C44-481F-A213-D5A8997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3F111-070C-4955-BC8A-90B0A529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76377-0DDD-4E14-92D9-F4D1DD72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6D49B-3426-4E28-B379-20479952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1. pick()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F6AB-CB39-4873-9A77-337F066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19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Casts a ray from the camera through the mouse pointer and returns the closest geometry hit.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1B82E-27D1-451A-9237-A85D645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52E22-1E3F-4665-97B0-B041A499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907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F9518-421C-4DC1-8E34-49C5D74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62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2. findAncestor()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194CA-E17B-4523-BF16-E2C8887A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05050"/>
            <a:ext cx="2019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Walks up from the clicked geometry until it finds a piece node or a square node.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36D51-EE8E-4302-A728-903FF47E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F8D5A-EC7B-4BEC-BA20-8E84394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17BD2-89DC-4570-8A04-327DFF65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3. select()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2A034-5216-447E-8932-950E76A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019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Stores the selected piece and lifts it slightly above the board.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E522C-229D-448E-A092-2E52329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376AF-488E-422B-8B59-C327285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907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41E2E-1C3F-4031-A7D2-78DF94B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62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4. tryMove()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4A483-A9E6-4D3E-97BC-56C0A674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05050"/>
            <a:ext cx="2019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Validates the target, updates board state, removes captures, and places the piece.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E90D7-B7AD-4B23-9DBD-C1730FF5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91150"/>
            <a:ext cx="887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10AE2-78C9-4929-B7DF-D055CE08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861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INTERACTION PIPELINE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4D730-543E-4B16-82A8-8FD63345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screen click → ray pick → piece or square → selected piece → legal target → update board</a:t>
            </a:r>
          </a:p>
        </p:txBody>
      </p:sp>
    </p:spTree>
    <p:extLst>
      <p:ext uri="{BB962C8B-B14F-4D97-AF65-F5344CB8AC3E}">
        <p14:creationId xmlns:p14="http://schemas.microsoft.com/office/powerpoint/2010/main" val="6037453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F912F-9C2B-4C6B-A40B-0F694CD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D180A-83C2-4CCC-9AA3-BBACB6A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8257F-2E6F-46B6-86AD-A6CD413C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MOVE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02284-235F-48FB-9B8B-A0C44866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Rules Are Kept Out of the Click Handler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37014-E372-40CA-9BFE-5411B4D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MoveValidator owns chess movement so GameController stays focused on input and board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4EB55-0481-44DC-BF4F-E0D04DD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A560F-BD48-4325-84BC-382FBC5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6CDAB-16F6-4301-9A64-AA6C2D8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429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988D3-55BA-48C5-B883-DB8C14D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516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THE RULE DISPATCH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8EC41-3C26-40EF-8515-7CC79F92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1244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return switch (type)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PAWN -&gt; isLegalPawnMove(...);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KNIGHT -&gt; isKnightShape;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BISHOP -&gt; diagonal &amp;&amp; isPathClear(...);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ROOK -&gt; straight &amp;&amp; isPathClear(...);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QUEEN -&gt; straightOrDiagonal &amp;&amp; isPathClear(...);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case KING -&gt; absDx &lt;= 1 &amp;&amp; absDy &lt;= 1;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};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7E5AC-0401-4071-96E4-97AEFA42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75D87-AD50-4394-8A80-EF3F7035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AD942-F5DA-4F65-A32E-71E19662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Before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86D0B-9D8F-470A-97D5-AAB111B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Any selected piece could move to any square.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81B5F-6C0A-423F-A515-E1F8AF6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082BE-FB9D-4472-A8F4-1C0BF2D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CDA0A-AA1C-4AA9-A327-9809E136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After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FC077-98E7-4BF9-9E3A-5B0328D9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move only happens if MoveValidator returns true.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7EF39-8559-4B8F-A9A6-DBB5EDB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95F2A-3C1C-4E22-B2B0-1347D280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9F80D-98B5-43B8-9EC7-3E738A4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Current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E1092-DDDD-4B08-9311-1BD8A2A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01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Basic movement works. Check, checkmate, castling, en passant, and promotion are future features.</a:t>
            </a:r>
          </a:p>
        </p:txBody>
      </p:sp>
    </p:spTree>
    <p:extLst>
      <p:ext uri="{BB962C8B-B14F-4D97-AF65-F5344CB8AC3E}">
        <p14:creationId xmlns:p14="http://schemas.microsoft.com/office/powerpoint/2010/main" val="13834983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3D2DB-F7CF-4A50-9480-B3E2C14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A9BC8-9801-41A0-8790-637551F6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04A4C-60F3-4122-A2C0-D5E86DA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EXAMPLE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2A201-D95B-485B-A1D5-03BC550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Sliding Pieces Must Have a Clear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9C4A9-A81D-412B-B170-87D9E3F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Rooks, bishops, and queens cannot jump over pieces, so the validator checks every square between start and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AE330-CE34-4EEC-B8CB-E1E67E5A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CD234-3CA2-4ED9-8E59-7D01D0AE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E403F-DAEC-49AC-ABFA-1285EACA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90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42DA4-45D1-4D07-9891-04D3799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PATH CLEARANCE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08113-19EA-486A-9758-991BA8D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5600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private boolean isPathClear(BoardState board,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    int fromFile, int fromRank, int toFile, int toRank)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int fileStep = Integer.compare(toFile, fromFile);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int rankStep = Integer.compare(toRank, fromRank);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int file = fromFile + fileStep;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int rank = fromRank + rankStep;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while (file != toFile || rank != toRank)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    if (board.pieceAt(file, rank) != null) return false;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    file += fileStep;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    rank += rankStep;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return true;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39A30-EA74-41BB-993D-E4FD2AE8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85C91-90FD-4302-B708-52A56772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F7872-DB29-467A-A522-76263F8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Why this is good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E9A4F-F4F2-4F52-8B90-7CF9A07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same helper works for rook, bishop, and queen.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8593D-4E40-4FB3-A7C3-77B7C2B4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95BA6-CF57-4ABB-98A4-542BAD95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5496A-52CC-411C-8E3D-390516F5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Why students should notice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44781-0DB0-4FE5-8020-A6103A8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It removes duplication and makes rules easier to debug.</a:t>
            </a:r>
          </a:p>
        </p:txBody>
      </p:sp>
    </p:spTree>
    <p:extLst>
      <p:ext uri="{BB962C8B-B14F-4D97-AF65-F5344CB8AC3E}">
        <p14:creationId xmlns:p14="http://schemas.microsoft.com/office/powerpoint/2010/main" val="3304030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53C63-9CC1-4396-893A-BE792C94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47425-CFA3-47C3-AE61-85933F2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BB9CA-1DFD-48CB-B06E-1C63BF5D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765B-7525-432C-A87F-2E0A7DD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The Rules Can Be Tested Without Opening the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093A4-476F-436C-A3B2-BD10EF5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BoardState is a tiny interface that lets tests fake the board and exercise MoveValidator directly.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50DDD-83FD-46A9-A68A-21BF3760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3C73E-C84B-4593-8AFC-D5B4BB6A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05E1-39F0-485A-89A4-EE36855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00D3F-BC23-4545-99C6-8C9C13E1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478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THE TEST SEAM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305D-D006-4955-88FC-EAC2F1A6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743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public interface BoardState {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    Spatial pieceAt(int file, int rank);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2C25C-15C6-4580-8295-3F1FABF4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5048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CB20F-91B8-413A-A389-FF42C9DA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78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EXAMPLE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0C9C4-0066-4B5E-BD14-B2A72068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743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assertTrue(validator.isLegalMove(board, pawn, 4, 3));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board.put(piece(PieceType.PAWN, WHITE, 4, 2));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assertFalse(validator.isLegalMove(board, pawn, 4, 3));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C67F3-A3B2-4FC1-AB68-E4988721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1BDF8-6FAF-4820-99AA-1F491FC9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5972A-3DBD-4195-BCEE-DA610D63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What the tests 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B364D-FE2A-46DE-984D-E119CA0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Pawn movement, pawn captures, sliding-piece blockers, knight jumps, and friendly-piece capture prevention.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3AACA-8C2F-4BAB-87DF-3F3BA9D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58322-9169-4FCE-9B5A-69ED000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9D740-6E81-4D35-922C-D07BD5AC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Teaching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A6653-3604-4E99-BD4F-23899FC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Pure logic is easier to test than graphics. Pull rules into a separate class when possible.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7B0F3-1693-4A79-BDC9-81F1FC03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D9854-09C2-4930-BA60-14958519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1E8A4-BED8-47BF-9171-2BCDB58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05333-4FCE-4066-9205-A8516F5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./gradlew clean build compiles the game and runs the validator tests.</a:t>
            </a:r>
          </a:p>
        </p:txBody>
      </p:sp>
    </p:spTree>
    <p:extLst>
      <p:ext uri="{BB962C8B-B14F-4D97-AF65-F5344CB8AC3E}">
        <p14:creationId xmlns:p14="http://schemas.microsoft.com/office/powerpoint/2010/main" val="18031496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3DBD3-B5D3-4092-A289-1A9658D7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9C789-F319-43FA-B2D3-638DCA51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C02E-0CE5-4937-AE71-3A7BA4C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GITHUB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C9961-4CF6-437B-B002-37B28C9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How the Game Was Saved and Published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F4E98-4F03-4018-987F-AFED802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The project was turned into a Git repository, committed, connected to GitHub, merged with the remote README, and pushed.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A9B4-50B9-46C1-9F50-DC22C1CD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3F89D-8FBF-4714-8DD8-DFA5EDD3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A2A10-FA56-4311-89EA-815168F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161C9-736B-41F1-B101-15F97A5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init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C4063-A11B-4041-84BA-E1C791C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Create local history on 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15974-7148-42C1-A3F6-1259A2FB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0" y="2266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B7C64-1AA8-4F3D-95C7-D7F896B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96215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3B23B-1026-4C76-AA61-42EC47DA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10" y="211455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ignore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35EE4-557F-4FC2-85BA-1DDE951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860" y="241935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Exclude build and cache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BF4F5-3B8F-4B12-A6B0-4B0FC09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2266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66F68-AD4D-4915-81F4-CC9DA57D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96215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9FDCD-5FED-488E-9C18-04B5C63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11455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E82DA-C5D4-48BF-BABD-4D55E42E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241935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Save a named 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92569-B1BD-45BF-865A-A0ED00D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266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7E0E2-77F9-4A9E-8CA3-275D36C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6215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3811B-B81A-43CD-ACD3-DF88C06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11455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remote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A0957-90E7-4F94-B59B-C433B05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Connect to GitHub repo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A382A-1251-4101-A571-F9FBCFF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2266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6A84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DDEEA-D261-4193-A8D4-93E8F7F4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1962150"/>
            <a:ext cx="19659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319"/>
          </a:solidFill>
          <a:ln xmlns:a="http://schemas.openxmlformats.org/drawingml/2006/main" w="9525">
            <a:solidFill>
              <a:srgbClr val="7D61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0D81B-5551-473B-8ACD-1DB321F1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114550"/>
            <a:ext cx="16992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D6221-1A9F-4AF5-9523-5F76F0BF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2419350"/>
            <a:ext cx="16611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Upload main branch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7815A-ED6A-4AE8-985B-1F8E1D39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9525">
            <a:solidFill>
              <a:srgbClr val="4A38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E14D3D-94B5-41AA-9BAF-4A27C12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91000"/>
            <a:ext cx="872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NORMAL STUDENT WORKFLOW AFTER EACH CHANGE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94BFE-5C04-4200-A4A6-C4536F8A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19600"/>
            <a:ext cx="868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status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add .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commit -m "Explain the change"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pull</a:t>
            </a:r>
          </a:p>
          <a:p xmlns:a="http://schemas.openxmlformats.org/drawingml/2006/main">
            <a:pPr algn="l">
              <a:def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DCC6"/>
                </a:solidFill>
                <a:latin typeface="Aptos Mono"/>
                <a:ea typeface="Aptos Mono"/>
                <a:cs typeface="Aptos Mono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184619908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77ED4-6FE5-4850-891D-B7627E6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6E18-4883-4888-BDCE-95C62630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E984B-E654-409F-9D37-6BA04B9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E66AD-1BB7-4D0F-BD22-E2FA770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904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E7D1"/>
                </a:solidFill>
                <a:latin typeface="Aptos Display"/>
                <a:ea typeface="Aptos Display"/>
                <a:cs typeface="Aptos Display"/>
              </a:rPr>
              <a:t>What Students Should Be Able to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6EF83-5588-4974-B835-3A513205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 strong code walkthrough ends by checking understanding, not by listing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B60AF-6B21-40EB-9AD4-0B0F30EF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Queen's Gambit code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E5F75-4DCE-48F0-AEFA-DFF8BD2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D7D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7D6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9272-F16D-4E93-8EC7-70DD5476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45353-E7A6-4E34-AE50-62CEB30B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B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E97DC-26EB-4B41-9E98-673EB7B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81224-C579-4BBA-B757-D29548E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59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What each class is responsible for and why responsibilities are separated.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CC4DA-B220-410E-AB54-6DE7DEA0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986DA-9320-4849-8DB9-E293372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CE1E5-C594-462D-AD34-12DD41A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67C18-A326-475A-B673-65010BA2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459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How pieces[file][rank] connects board logic to 3D objects.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CDB7D-40A8-421C-B5C7-11F2B4B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17C69-C33F-41E9-B410-F194C690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4DBA5-6DD9-429D-A219-BA8219D3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5620F-6C7B-45DC-A273-F1B6B287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459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How ray picking finds the clicked piece or square.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8E6DE-FF0F-4E4E-8FC6-9E2055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A25ED-2944-4999-A1F3-30EC7743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75E7E-9A8C-449E-A756-A0D1CD37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91BE1-014C-4324-9048-E13DFF8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459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How MoveValidator checks piece movement and blocked paths.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9EB16-9908-463F-91CA-6FC5386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2"/>
          </a:solidFill>
          <a:ln xmlns:a="http://schemas.openxmlformats.org/drawingml/2006/main" w="9525">
            <a:solidFill>
              <a:srgbClr val="3E2C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38401-F3D8-4A0E-A599-5F4D6B0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3F0A8-41FE-424A-B8B6-03BA1B5B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30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7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E7D1"/>
                </a:solidFill>
                <a:latin typeface="Aptos"/>
                <a:ea typeface="Aptos"/>
                <a:cs typeface="Aptos"/>
              </a:rPr>
              <a:t>Next extension challenge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5F0F9-1727-4CF1-8B15-EB18EA6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1030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B79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8B799"/>
                </a:solidFill>
                <a:latin typeface="Aptos"/>
                <a:ea typeface="Aptos"/>
                <a:cs typeface="Aptos"/>
              </a:rPr>
              <a:t>Add legal move highlighting: when a piece is selected, show every square where MoveValidator returns true.</a:t>
            </a:r>
          </a:p>
        </p:txBody>
      </p:sp>
    </p:spTree>
    <p:extLst>
      <p:ext uri="{BB962C8B-B14F-4D97-AF65-F5344CB8AC3E}">
        <p14:creationId xmlns:p14="http://schemas.microsoft.com/office/powerpoint/2010/main" val="1867101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2026-05-30T12:02:58.3570000Z</dcterms:created>
  <dcterms:modified xsi:type="dcterms:W3CDTF">2026-05-30T12:02:58.3570000Z</dcterms:modified>
</coreProperties>
</file>